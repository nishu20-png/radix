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318" r:id="rId3"/>
    <p:sldId id="258" r:id="rId4"/>
    <p:sldId id="321" r:id="rId5"/>
    <p:sldId id="305" r:id="rId6"/>
    <p:sldId id="325" r:id="rId7"/>
    <p:sldId id="326" r:id="rId8"/>
    <p:sldId id="313" r:id="rId9"/>
    <p:sldId id="306" r:id="rId10"/>
    <p:sldId id="322" r:id="rId11"/>
    <p:sldId id="323" r:id="rId12"/>
    <p:sldId id="324" r:id="rId13"/>
    <p:sldId id="319" r:id="rId14"/>
    <p:sldId id="30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C441C"/>
    <a:srgbClr val="251E42"/>
    <a:srgbClr val="085821"/>
    <a:srgbClr val="1E3742"/>
    <a:srgbClr val="B92313"/>
    <a:srgbClr val="CC1D00"/>
    <a:srgbClr val="2F223E"/>
    <a:srgbClr val="CC3100"/>
    <a:srgbClr val="C45008"/>
    <a:srgbClr val="C45D0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85835" autoAdjust="0"/>
  </p:normalViewPr>
  <p:slideViewPr>
    <p:cSldViewPr snapToGrid="0">
      <p:cViewPr varScale="1">
        <p:scale>
          <a:sx n="75" d="100"/>
          <a:sy n="75" d="100"/>
        </p:scale>
        <p:origin x="-974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D75F-73F6-467C-8B5A-E96364E1170A}" type="datetimeFigureOut">
              <a:rPr lang="en-IN" smtClean="0"/>
              <a:pPr/>
              <a:t>24-12-2024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F4ECA-A2DA-4C65-B4BB-80B02CF0864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731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799" y="4343379"/>
            <a:ext cx="5486389" cy="4114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F4ECA-A2DA-4C65-B4BB-80B02CF0864D}" type="slidenum">
              <a:rPr lang="en-IN" smtClean="0"/>
              <a:pPr/>
              <a:t>13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99154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73808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566317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96451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5333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46995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528224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50213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xmlns="" val="1189201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18187" y="2986447"/>
            <a:ext cx="8755626" cy="14700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defRPr/>
            </a:pP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entury Gothic" pitchFamily="34" charset="0"/>
              <a:sym typeface="Arial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895600" y="3682042"/>
            <a:ext cx="6400800" cy="317595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2400" b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" pitchFamily="18" charset="0"/>
              <a:cs typeface="Arial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000" b="1" kern="0" dirty="0">
                <a:latin typeface="Century" pitchFamily="18" charset="0"/>
                <a:cs typeface="Arial" pitchFamily="34" charset="0"/>
              </a:rPr>
              <a:t> </a:t>
            </a:r>
            <a:r>
              <a:rPr lang="en-IN" sz="20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itchFamily="18" charset="0"/>
                <a:cs typeface="Arial" pitchFamily="34" charset="0"/>
              </a:rPr>
              <a:t>S V  SAI VATHSAL             22BD1A663W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" pitchFamily="18" charset="0"/>
                <a:cs typeface="Arial" pitchFamily="34" charset="0"/>
                <a:sym typeface="Arial"/>
              </a:rPr>
              <a:t>K  PHANI DATTA               </a:t>
            </a:r>
            <a:r>
              <a:rPr kumimoji="0" lang="en-IN" sz="2000" b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" pitchFamily="18" charset="0"/>
                <a:cs typeface="Arial" pitchFamily="34" charset="0"/>
                <a:sym typeface="Arial"/>
              </a:rPr>
              <a:t>22BD1A66</a:t>
            </a:r>
            <a:r>
              <a:rPr lang="en-IN" sz="2000" b="1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itchFamily="18" charset="0"/>
                <a:cs typeface="Arial" pitchFamily="34" charset="0"/>
              </a:rPr>
              <a:t>2V</a:t>
            </a:r>
            <a:endParaRPr lang="en-IN" sz="20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itchFamily="18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" pitchFamily="18" charset="0"/>
                <a:cs typeface="Arial" pitchFamily="34" charset="0"/>
                <a:sym typeface="Arial"/>
              </a:rPr>
              <a:t>T  NISHANTH  REDDY      22BD1A663Y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0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itchFamily="18" charset="0"/>
                <a:cs typeface="Arial" pitchFamily="34" charset="0"/>
              </a:rPr>
              <a:t>G  ROHITH                          </a:t>
            </a:r>
            <a:r>
              <a:rPr lang="en-IN" sz="2000" b="1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itchFamily="18" charset="0"/>
                <a:cs typeface="Arial" pitchFamily="34" charset="0"/>
              </a:rPr>
              <a:t>23BD5A6601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800" b="1" kern="0" dirty="0" smtClean="0">
                <a:solidFill>
                  <a:srgbClr val="2C44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itchFamily="18" charset="0"/>
                <a:cs typeface="Arial" pitchFamily="34" charset="0"/>
              </a:rPr>
              <a:t>DATE OF REVIEW:18/12/2024</a:t>
            </a:r>
          </a:p>
          <a:p>
            <a:pPr lvl="6" algn="ctr">
              <a:defRPr/>
            </a:pPr>
            <a:endParaRPr kumimoji="0" lang="en-IN" sz="20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7A243A1-3D20-556A-5D6E-C459E297BD57}"/>
              </a:ext>
            </a:extLst>
          </p:cNvPr>
          <p:cNvSpPr txBox="1"/>
          <p:nvPr/>
        </p:nvSpPr>
        <p:spPr>
          <a:xfrm>
            <a:off x="4775242" y="2941685"/>
            <a:ext cx="40645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800" dirty="0" smtClean="0">
                <a:solidFill>
                  <a:srgbClr val="1E374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itchFamily="34" charset="0"/>
              </a:rPr>
              <a:t>  </a:t>
            </a:r>
            <a:r>
              <a:rPr lang="en-US" sz="4800" b="1" dirty="0" smtClean="0">
                <a:solidFill>
                  <a:srgbClr val="1E374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4800" b="1" dirty="0" err="1" smtClean="0">
                <a:solidFill>
                  <a:srgbClr val="1E374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itchFamily="34" charset="0"/>
              </a:rPr>
              <a:t>Ra</a:t>
            </a:r>
            <a:r>
              <a:rPr lang="en-US" sz="4800" b="1" dirty="0" err="1" smtClean="0">
                <a:solidFill>
                  <a:srgbClr val="B9231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itchFamily="34" charset="0"/>
              </a:rPr>
              <a:t>Dix</a:t>
            </a:r>
            <a:endParaRPr lang="en-IN" sz="4800" b="1" dirty="0">
              <a:solidFill>
                <a:srgbClr val="B9231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2205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EBF1326-56A0-E875-4A90-E8C7442E48FA}"/>
              </a:ext>
            </a:extLst>
          </p:cNvPr>
          <p:cNvSpPr txBox="1"/>
          <p:nvPr/>
        </p:nvSpPr>
        <p:spPr>
          <a:xfrm>
            <a:off x="705853" y="539496"/>
            <a:ext cx="106680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>
              <a:lnSpc>
                <a:spcPct val="200000"/>
              </a:lnSpc>
            </a:pP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PROBLEM  STATEMENT</a:t>
            </a:r>
          </a:p>
          <a:p>
            <a:pPr algn="just">
              <a:lnSpc>
                <a:spcPct val="20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Healthcare professionals struggle with accurate diagnoses due to high patient volumes and manual workflows, causing delays and errors. A deep learning-driven system can automate disease detection, severity classification, and reporting, enhancing efficiency, accuracy, and patient care.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86805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AC3F8B0-6282-99B1-93A0-C4F705D327DE}"/>
              </a:ext>
            </a:extLst>
          </p:cNvPr>
          <p:cNvSpPr txBox="1"/>
          <p:nvPr/>
        </p:nvSpPr>
        <p:spPr>
          <a:xfrm>
            <a:off x="1046881" y="538480"/>
            <a:ext cx="11145119" cy="649408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CONTENTS</a:t>
            </a:r>
            <a:r>
              <a:rPr lang="en-IN" sz="40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imes New Roman" panose="02020603050405020304" pitchFamily="18" charset="0"/>
              </a:rPr>
              <a:t>  </a:t>
            </a:r>
          </a:p>
          <a:p>
            <a:pPr marL="571500" marR="0" lvl="0" indent="-5715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3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imes New Roman" panose="02020603050405020304" pitchFamily="18" charset="0"/>
              </a:rPr>
              <a:t>Objectives</a:t>
            </a:r>
          </a:p>
          <a:p>
            <a:pPr marL="571500" marR="0" lvl="0" indent="-5715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3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imes New Roman" panose="02020603050405020304" pitchFamily="18" charset="0"/>
              </a:rPr>
              <a:t>Feature List</a:t>
            </a:r>
          </a:p>
          <a:p>
            <a:pPr marL="571500" marR="0" lvl="0" indent="-5715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3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imes New Roman" panose="02020603050405020304" pitchFamily="18" charset="0"/>
              </a:rPr>
              <a:t>UI Screens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itchFamily="34" charset="0"/>
                <a:cs typeface="Times New Roman" panose="02020603050405020304" pitchFamily="18" charset="0"/>
              </a:rPr>
              <a:t>Technology</a:t>
            </a:r>
            <a:r>
              <a:rPr kumimoji="0" lang="en-IN" sz="32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itchFamily="34" charset="0"/>
                <a:cs typeface="Times New Roman" panose="02020603050405020304" pitchFamily="18" charset="0"/>
              </a:rPr>
              <a:t> Stack</a:t>
            </a:r>
          </a:p>
          <a:p>
            <a:pPr marL="571500" lvl="2" indent="-5715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IN" sz="3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imes New Roman" panose="02020603050405020304" pitchFamily="18" charset="0"/>
              </a:rPr>
              <a:t>Workflow</a:t>
            </a:r>
          </a:p>
          <a:p>
            <a:pPr marL="1485900" lvl="2" indent="-571500">
              <a:lnSpc>
                <a:spcPct val="200000"/>
              </a:lnSpc>
              <a:defRPr/>
            </a:pPr>
            <a:endParaRPr lang="en-IN" sz="2800" b="1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200000"/>
              </a:lnSpc>
              <a:defRPr/>
            </a:pPr>
            <a:endParaRPr lang="en-IN" sz="2800" b="1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IN" sz="3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imes New Roman" panose="02020603050405020304" pitchFamily="18" charset="0"/>
              </a:rPr>
              <a:t>Developments</a:t>
            </a:r>
          </a:p>
          <a:p>
            <a:pPr marL="1485900" lvl="2" indent="-5715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IN" sz="3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imes New Roman" panose="02020603050405020304" pitchFamily="18" charset="0"/>
              </a:rPr>
              <a:t>Challenges Faced</a:t>
            </a:r>
          </a:p>
          <a:p>
            <a:pPr marL="1485900" lvl="2" indent="-5715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IN" sz="3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imes New Roman" panose="02020603050405020304" pitchFamily="18" charset="0"/>
              </a:rPr>
              <a:t>Project Outcome</a:t>
            </a:r>
          </a:p>
          <a:p>
            <a:pPr marL="1485900" lvl="2" indent="-5715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IN" sz="3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imes New Roman" panose="02020603050405020304" pitchFamily="18" charset="0"/>
              </a:rPr>
              <a:t>Conclusion</a:t>
            </a:r>
            <a:endParaRPr kumimoji="0" lang="en-IN" sz="32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2366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A289AF3-949A-CFE2-5DA9-5371DB0D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5212191-FE11-61A8-6763-BD65F3502F66}"/>
              </a:ext>
            </a:extLst>
          </p:cNvPr>
          <p:cNvSpPr txBox="1"/>
          <p:nvPr/>
        </p:nvSpPr>
        <p:spPr>
          <a:xfrm>
            <a:off x="705853" y="132081"/>
            <a:ext cx="10668000" cy="7386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1371600" lvl="2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Smart Diagnostics:  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Detects diseases accurately with deep learning.</a:t>
            </a:r>
          </a:p>
          <a:p>
            <a:pPr marL="1371600" lvl="2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Instant Reports: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 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Creates detailed medical reports within seconds.</a:t>
            </a:r>
          </a:p>
          <a:p>
            <a:pPr marL="1371600" lvl="2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Effortless Workflows: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 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Simplifies tasks for healthcare professionals.</a:t>
            </a:r>
          </a:p>
          <a:p>
            <a:pPr marL="1371600" lvl="2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Built to Grow: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 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Scales seamlessly with more data and tech.</a:t>
            </a:r>
          </a:p>
          <a:p>
            <a:pPr marL="1371600" lvl="2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Secure by Design: 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Keeps patient data private and secure.</a:t>
            </a:r>
          </a:p>
          <a:p>
            <a:pPr marL="1371600" lvl="2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Cost Efficiency: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 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Cuts costs by automating manual processes.</a:t>
            </a:r>
          </a:p>
          <a:p>
            <a:pPr marL="1371600" lvl="2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Better Decisions: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 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Offers insights for improved treatment plans.</a:t>
            </a:r>
          </a:p>
          <a:p>
            <a:pPr marL="1371600" lvl="2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Seamless Integration: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 Easily connects with hospital systems like HIS.</a:t>
            </a:r>
            <a:endParaRPr lang="en-US" sz="2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  <a:cs typeface="Times New Roman" pitchFamily="18" charset="0"/>
            </a:endParaRPr>
          </a:p>
          <a:p>
            <a:endParaRPr lang="en-US" sz="36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4441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FF7269-BE3D-552E-6496-3ED2FBE7DFAB}"/>
              </a:ext>
            </a:extLst>
          </p:cNvPr>
          <p:cNvSpPr txBox="1"/>
          <p:nvPr/>
        </p:nvSpPr>
        <p:spPr>
          <a:xfrm>
            <a:off x="386080" y="1"/>
            <a:ext cx="11643360" cy="609397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FEATURE LIST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200000"/>
              </a:lnSpc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1.Auto-Generated Reports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lnSpc>
                <a:spcPct val="200000"/>
              </a:lnSpc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2.Image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Analysis 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lnSpc>
                <a:spcPct val="200000"/>
              </a:lnSpc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3.Data 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Upload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lnSpc>
                <a:spcPct val="200000"/>
              </a:lnSpc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4.HIS Integration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lnSpc>
                <a:spcPct val="200000"/>
              </a:lnSpc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5.Database Support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lnSpc>
                <a:spcPct val="200000"/>
              </a:lnSpc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6.User Dashboard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  <a:p>
            <a:pPr lvl="2">
              <a:lnSpc>
                <a:spcPct val="200000"/>
              </a:lnSpc>
            </a:pPr>
            <a:endPara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  <a:p>
            <a:pPr lvl="2">
              <a:lnSpc>
                <a:spcPct val="200000"/>
              </a:lnSpc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7.Admin Panel</a:t>
            </a:r>
            <a:endParaRPr lang="en-US" sz="2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  <a:p>
            <a:pPr lvl="2">
              <a:lnSpc>
                <a:spcPct val="200000"/>
              </a:lnSpc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8.Data Security 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lnSpc>
                <a:spcPct val="200000"/>
              </a:lnSpc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9.System Performance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endParaRPr lang="en-US" dirty="0"/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00155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UI SCREENS(MOCK-UPs)</a:t>
            </a:r>
            <a:endParaRPr lang="en-US" sz="4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609600" y="1615440"/>
            <a:ext cx="5386917" cy="451072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513840"/>
            <a:ext cx="5537200" cy="2458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obliqueBottomRight"/>
            <a:lightRig rig="threePt" dir="t"/>
          </a:scene3d>
          <a:sp3d>
            <a:bevelT prst="angle"/>
          </a:sp3d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4015105"/>
            <a:ext cx="5547360" cy="2212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obliqueBottomRight"/>
            <a:lightRig rig="threePt" dir="t"/>
          </a:scene3d>
          <a:sp3d>
            <a:bevelT prst="angle"/>
          </a:sp3d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46800" y="1524000"/>
            <a:ext cx="5537200" cy="23469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obliqueBottomRight"/>
            <a:lightRig rig="threePt" dir="t"/>
          </a:scene3d>
          <a:sp3d>
            <a:bevelT prst="angle"/>
          </a:sp3d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26480" y="3901440"/>
            <a:ext cx="5557520" cy="2316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obliqueBottomRight"/>
            <a:lightRig rig="threePt" dir="t"/>
          </a:scene3d>
          <a:sp3d>
            <a:bevelT prst="angle"/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UI SCREENS(MOCK-UPs)</a:t>
            </a:r>
            <a:endParaRPr lang="en-US" sz="4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609600" y="1615441"/>
            <a:ext cx="5386917" cy="22758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>
          <a:xfrm>
            <a:off x="6193370" y="2174875"/>
            <a:ext cx="5389033" cy="1716405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544955"/>
            <a:ext cx="5557520" cy="24682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obliqueBottomRight"/>
            <a:lightRig rig="threePt" dir="t"/>
          </a:scene3d>
          <a:sp3d>
            <a:bevelT prst="angle"/>
          </a:sp3d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56960" y="1535430"/>
            <a:ext cx="5496560" cy="24516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obliqueBottomRight"/>
            <a:lightRig rig="threePt" dir="t"/>
          </a:scene3d>
          <a:sp3d>
            <a:bevelT prst="angle"/>
          </a:sp3d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51200" y="3980180"/>
            <a:ext cx="6299200" cy="24714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obliqueBottomRight"/>
            <a:lightRig rig="threePt" dir="t"/>
          </a:scene3d>
          <a:sp3d>
            <a:bevelT prst="angle"/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4CF4B73-1B3D-A7FB-D441-5DE4E747272C}"/>
              </a:ext>
            </a:extLst>
          </p:cNvPr>
          <p:cNvSpPr txBox="1"/>
          <p:nvPr/>
        </p:nvSpPr>
        <p:spPr>
          <a:xfrm>
            <a:off x="720748" y="208434"/>
            <a:ext cx="10076448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BCEC7C9-75FE-EE85-859B-E2C8E9BFA350}"/>
              </a:ext>
            </a:extLst>
          </p:cNvPr>
          <p:cNvSpPr/>
          <p:nvPr/>
        </p:nvSpPr>
        <p:spPr>
          <a:xfrm>
            <a:off x="1141694" y="1470581"/>
            <a:ext cx="9437914" cy="1847653"/>
          </a:xfrm>
          <a:prstGeom prst="rect">
            <a:avLst/>
          </a:prstGeom>
          <a:solidFill>
            <a:srgbClr val="00B050"/>
          </a:solidFill>
          <a:ln w="38100"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  <a:scene3d>
            <a:camera prst="obliqueBottomRight"/>
            <a:lightRig rig="threePt" dir="t"/>
          </a:scene3d>
          <a:sp3d>
            <a:bevelT w="152400" h="50800" prst="softRound"/>
          </a:sp3d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FRONT-END</a:t>
            </a:r>
          </a:p>
          <a:p>
            <a:pPr algn="just"/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REACT.JS 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: 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For building a dynamic and responsive user interface.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Tailwind CSS </a:t>
            </a: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: 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For styling and creating user-friendly components.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A47EE67-A05E-81A3-40F0-4471325F038F}"/>
              </a:ext>
            </a:extLst>
          </p:cNvPr>
          <p:cNvSpPr/>
          <p:nvPr/>
        </p:nvSpPr>
        <p:spPr>
          <a:xfrm>
            <a:off x="1161288" y="3864990"/>
            <a:ext cx="9418320" cy="2302130"/>
          </a:xfrm>
          <a:prstGeom prst="rect">
            <a:avLst/>
          </a:prstGeom>
          <a:solidFill>
            <a:srgbClr val="C6250A"/>
          </a:solidFill>
          <a:ln w="38100"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  <a:scene3d>
            <a:camera prst="obliqueBottomRight"/>
            <a:lightRig rig="threePt" dir="t"/>
          </a:scene3d>
          <a:sp3d>
            <a:bevelT w="152400" h="50800" prst="softRound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marL="3486150" lvl="7" indent="-285750"/>
            <a:endParaRPr lang="en-IN" b="1" dirty="0">
              <a:latin typeface="Century Gothic" pitchFamily="34" charset="0"/>
            </a:endParaRPr>
          </a:p>
          <a:p>
            <a:pPr marL="3486150" lvl="7" indent="-285750"/>
            <a:r>
              <a:rPr lang="en-US" b="1" dirty="0">
                <a:latin typeface="Century Gothic" pitchFamily="34" charset="0"/>
              </a:rPr>
              <a:t>      </a:t>
            </a:r>
            <a:r>
              <a:rPr lang="en-US" b="1" dirty="0" smtClean="0">
                <a:latin typeface="Century Gothic" pitchFamily="34" charset="0"/>
              </a:rPr>
              <a:t>   </a:t>
            </a:r>
            <a:r>
              <a:rPr lang="en-US" sz="2400" b="1" dirty="0" smtClean="0">
                <a:latin typeface="Century Gothic" pitchFamily="34" charset="0"/>
              </a:rPr>
              <a:t> </a:t>
            </a: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BACK-END</a:t>
            </a:r>
          </a:p>
          <a:p>
            <a:pPr marL="3486150" lvl="7" indent="-285750"/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Express.JS  : 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For</a:t>
            </a:r>
            <a:r>
              <a:rPr lang="en-US" i="0" dirty="0">
                <a:solidFill>
                  <a:srgbClr val="BFBFB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 </a:t>
            </a:r>
            <a:r>
              <a:rPr lang="en-US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designing and building web applications quickly and easily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Python  : 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Primary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programming language for backend logic.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Flask or </a:t>
            </a:r>
            <a:r>
              <a:rPr lang="en-US" sz="2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Django</a:t>
            </a: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 : 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For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building APIs and handling server-side processes.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FireBase</a:t>
            </a: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 : 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For database management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2529840" y="171950"/>
            <a:ext cx="68427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  TECHNOLOGY </a:t>
            </a:r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STACK:</a:t>
            </a: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xmlns="" val="1068743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A539DFA-A1CB-765C-C49E-AF3705136620}"/>
              </a:ext>
            </a:extLst>
          </p:cNvPr>
          <p:cNvSpPr txBox="1"/>
          <p:nvPr/>
        </p:nvSpPr>
        <p:spPr>
          <a:xfrm>
            <a:off x="684816" y="1"/>
            <a:ext cx="11507184" cy="7986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en-IN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WORKFLOW</a:t>
            </a:r>
            <a:endParaRPr lang="en-US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  <a:p>
            <a:pPr>
              <a:lnSpc>
                <a:spcPct val="150000"/>
              </a:lnSpc>
            </a:pPr>
            <a:endParaRPr lang="en-US" sz="2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			</a:t>
            </a:r>
            <a:endParaRPr lang="en-US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algn="just">
              <a:lnSpc>
                <a:spcPct val="30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		</a:t>
            </a:r>
            <a:endParaRPr lang="en-US" sz="1600" dirty="0" smtClean="0"/>
          </a:p>
          <a:p>
            <a:pPr>
              <a:lnSpc>
                <a:spcPct val="30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		</a:t>
            </a: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>
              <a:lnSpc>
                <a:spcPct val="30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		</a:t>
            </a: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>
              <a:lnSpc>
                <a:spcPct val="30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		</a:t>
            </a: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>
              <a:lnSpc>
                <a:spcPct val="150000"/>
              </a:lnSpc>
            </a:pPr>
            <a:endParaRPr lang="en-IN" sz="1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IN" sz="3200" b="1" dirty="0">
              <a:solidFill>
                <a:srgbClr val="FF0000"/>
              </a:solidFill>
            </a:endParaRPr>
          </a:p>
          <a:p>
            <a:r>
              <a:rPr lang="en-US" sz="2400" b="1" dirty="0" smtClean="0"/>
              <a:t>                  	</a:t>
            </a:r>
            <a:endParaRPr lang="en-US" sz="3200" b="1" dirty="0"/>
          </a:p>
        </p:txBody>
      </p:sp>
      <p:pic>
        <p:nvPicPr>
          <p:cNvPr id="2" name="Picture 2" descr="C:\Users\HOME\OneDrive\Pictures\Screenshot 2024-12-18 00443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12161" y="2590800"/>
            <a:ext cx="5415280" cy="24282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  <a:scene3d>
            <a:camera prst="perspectiveFront"/>
            <a:lightRig rig="threePt" dir="t"/>
          </a:scene3d>
          <a:sp3d>
            <a:bevelT/>
          </a:sp3d>
        </p:spPr>
      </p:pic>
      <p:sp>
        <p:nvSpPr>
          <p:cNvPr id="9" name="Flowchart: Alternate Process 8"/>
          <p:cNvSpPr/>
          <p:nvPr/>
        </p:nvSpPr>
        <p:spPr>
          <a:xfrm>
            <a:off x="4490720" y="1168400"/>
            <a:ext cx="3037840" cy="944880"/>
          </a:xfrm>
          <a:prstGeom prst="flowChartAlternateProcess">
            <a:avLst/>
          </a:prstGeom>
          <a:solidFill>
            <a:srgbClr val="7030A0"/>
          </a:solidFill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bliqueBottomRigh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Data Input </a:t>
            </a:r>
            <a:endParaRPr lang="en-US" sz="2000" dirty="0"/>
          </a:p>
        </p:txBody>
      </p:sp>
      <p:sp>
        <p:nvSpPr>
          <p:cNvPr id="10" name="Flowchart: Alternate Process 9"/>
          <p:cNvSpPr/>
          <p:nvPr/>
        </p:nvSpPr>
        <p:spPr>
          <a:xfrm>
            <a:off x="9367520" y="3322320"/>
            <a:ext cx="1960880" cy="944880"/>
          </a:xfrm>
          <a:prstGeom prst="flowChartAlternateProcess">
            <a:avLst/>
          </a:prstGeom>
          <a:solidFill>
            <a:srgbClr val="7030A0"/>
          </a:solidFill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bliqueBottomRigh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Data Processing </a:t>
            </a:r>
            <a:endParaRPr lang="en-US" sz="2000" dirty="0"/>
          </a:p>
        </p:txBody>
      </p:sp>
      <p:sp>
        <p:nvSpPr>
          <p:cNvPr id="12" name="Flowchart: Alternate Process 11"/>
          <p:cNvSpPr/>
          <p:nvPr/>
        </p:nvSpPr>
        <p:spPr>
          <a:xfrm>
            <a:off x="762000" y="3302000"/>
            <a:ext cx="1960880" cy="944880"/>
          </a:xfrm>
          <a:prstGeom prst="flowChartAlternateProcess">
            <a:avLst/>
          </a:prstGeom>
          <a:solidFill>
            <a:srgbClr val="7030A0"/>
          </a:solidFill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bliqueBottomRigh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Report Delivery </a:t>
            </a:r>
            <a:endParaRPr lang="en-US" sz="2000" dirty="0"/>
          </a:p>
        </p:txBody>
      </p:sp>
      <p:sp>
        <p:nvSpPr>
          <p:cNvPr id="13" name="Flowchart: Alternate Process 12"/>
          <p:cNvSpPr/>
          <p:nvPr/>
        </p:nvSpPr>
        <p:spPr>
          <a:xfrm>
            <a:off x="4521200" y="5466080"/>
            <a:ext cx="3098800" cy="944880"/>
          </a:xfrm>
          <a:prstGeom prst="flowChartAlternateProcess">
            <a:avLst/>
          </a:prstGeom>
          <a:solidFill>
            <a:srgbClr val="7030A0"/>
          </a:solidFill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bliqueBottomRigh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Report Generation </a:t>
            </a:r>
            <a:endParaRPr lang="en-US" sz="2000" dirty="0"/>
          </a:p>
        </p:txBody>
      </p:sp>
      <p:sp>
        <p:nvSpPr>
          <p:cNvPr id="16" name="Bent Arrow 15"/>
          <p:cNvSpPr/>
          <p:nvPr/>
        </p:nvSpPr>
        <p:spPr>
          <a:xfrm rot="5400000">
            <a:off x="9001759" y="924580"/>
            <a:ext cx="772160" cy="1849119"/>
          </a:xfrm>
          <a:prstGeom prst="bentArrow">
            <a:avLst/>
          </a:prstGeom>
          <a:solidFill>
            <a:srgbClr val="FF0000"/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bliqueBottomRigh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Bent Arrow 18"/>
          <p:cNvSpPr/>
          <p:nvPr/>
        </p:nvSpPr>
        <p:spPr>
          <a:xfrm rot="10800000">
            <a:off x="9489440" y="4922528"/>
            <a:ext cx="777239" cy="1310639"/>
          </a:xfrm>
          <a:prstGeom prst="bentArrow">
            <a:avLst>
              <a:gd name="adj1" fmla="val 25000"/>
              <a:gd name="adj2" fmla="val 26307"/>
              <a:gd name="adj3" fmla="val 25000"/>
              <a:gd name="adj4" fmla="val 43750"/>
            </a:avLst>
          </a:prstGeom>
          <a:solidFill>
            <a:srgbClr val="FF0000"/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bliqueBottomRigh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Bent Arrow 20"/>
          <p:cNvSpPr/>
          <p:nvPr/>
        </p:nvSpPr>
        <p:spPr>
          <a:xfrm rot="16200000">
            <a:off x="2443485" y="4770136"/>
            <a:ext cx="772160" cy="1757670"/>
          </a:xfrm>
          <a:prstGeom prst="bentArrow">
            <a:avLst>
              <a:gd name="adj1" fmla="val 26316"/>
              <a:gd name="adj2" fmla="val 25000"/>
              <a:gd name="adj3" fmla="val 25000"/>
              <a:gd name="adj4" fmla="val 43750"/>
            </a:avLst>
          </a:prstGeom>
          <a:solidFill>
            <a:srgbClr val="FF0000"/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bliqueBottomRigh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Bent Arrow 25"/>
          <p:cNvSpPr/>
          <p:nvPr/>
        </p:nvSpPr>
        <p:spPr>
          <a:xfrm>
            <a:off x="2026919" y="1376689"/>
            <a:ext cx="756922" cy="1310639"/>
          </a:xfrm>
          <a:prstGeom prst="bentArrow">
            <a:avLst/>
          </a:prstGeom>
          <a:solidFill>
            <a:srgbClr val="FF0000"/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bliqueBottomRigh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46204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5530" y="0"/>
            <a:ext cx="11136469" cy="8002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			DEVELOPMENT</a:t>
            </a:r>
          </a:p>
          <a:p>
            <a:pPr lvl="2" algn="just">
              <a:lnSpc>
                <a:spcPct val="15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1. Pseudo Code: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lvl="3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Algorithms for data validation, analysis, and report generation.</a:t>
            </a:r>
          </a:p>
          <a:p>
            <a:pPr lvl="2" algn="just">
              <a:lnSpc>
                <a:spcPct val="15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2. Testing: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lvl="3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Unit and integration testing for reliability.</a:t>
            </a:r>
          </a:p>
          <a:p>
            <a:pPr lvl="3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Stress  tests  for data security.</a:t>
            </a:r>
          </a:p>
          <a:p>
            <a:pPr lvl="2" algn="just">
              <a:lnSpc>
                <a:spcPct val="15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3. Tools Used: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lvl="3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Front-End :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React.js ,Tailwind CSS.</a:t>
            </a:r>
          </a:p>
          <a:p>
            <a:pPr lvl="3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Back-End :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Express.js , Flask/</a:t>
            </a:r>
            <a:r>
              <a:rPr 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Django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, Firebase.</a:t>
            </a:r>
          </a:p>
          <a:p>
            <a:pPr lvl="3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Testing :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Postman(API  Testing) , Selenium(UI Testing).</a:t>
            </a:r>
          </a:p>
          <a:p>
            <a:pPr lvl="3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Deployment :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AWS/GCP  for  hosting  and  scalability .</a:t>
            </a:r>
          </a:p>
          <a:p>
            <a:pPr algn="just">
              <a:lnSpc>
                <a:spcPct val="150000"/>
              </a:lnSpc>
            </a:pPr>
            <a:endParaRPr lang="en-US" sz="2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4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0117" y="0"/>
            <a:ext cx="10134923" cy="7386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			CHALLENGES  FACED</a:t>
            </a:r>
          </a:p>
          <a:p>
            <a:pPr lvl="2" algn="just">
              <a:lnSpc>
                <a:spcPct val="15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1. Data Quality: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lvl="3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Challenge :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Inconsistent  input data.</a:t>
            </a:r>
          </a:p>
          <a:p>
            <a:pPr lvl="3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Mitigation :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Added preprocessing for validation and cleaning.</a:t>
            </a:r>
          </a:p>
          <a:p>
            <a:pPr lvl="2" algn="just">
              <a:lnSpc>
                <a:spcPct val="15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2.Integration with HIS: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lvl="3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Challenge :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Compatibility with hospital systems.</a:t>
            </a:r>
          </a:p>
          <a:p>
            <a:pPr lvl="3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Mitigation :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Used standard APIs for integration.</a:t>
            </a:r>
          </a:p>
          <a:p>
            <a:pPr lvl="2" algn="just">
              <a:lnSpc>
                <a:spcPct val="15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3.Performance Optimization: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lvl="3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Challenge :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Slow processing for large data.</a:t>
            </a:r>
          </a:p>
          <a:p>
            <a:pPr lvl="3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Mitigation :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Optimized AI models and workflows.</a:t>
            </a:r>
          </a:p>
          <a:p>
            <a:pPr lvl="2" algn="just">
              <a:lnSpc>
                <a:spcPct val="15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4.Data Security: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lvl="3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Challenge :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Protecting patient data.</a:t>
            </a:r>
          </a:p>
          <a:p>
            <a:pPr lvl="3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Mitigation :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Ensured HIPAA compliance with encryption.</a:t>
            </a:r>
          </a:p>
          <a:p>
            <a:pPr algn="just">
              <a:lnSpc>
                <a:spcPct val="150000"/>
              </a:lnSpc>
            </a:pPr>
            <a:endParaRPr lang="en-US" sz="2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4385" y="384752"/>
            <a:ext cx="1111761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			PROJECT  OUTCOME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1. Summary: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lvl="2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Successfully developed a system for automated disease detection and report generation.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2. Competition:</a:t>
            </a:r>
            <a:endParaRPr lang="en-US" dirty="0" smtClean="0"/>
          </a:p>
          <a:p>
            <a:pPr lvl="2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Offers faster diagnostics and smoother HIS integration than manual systems.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3. Improvement Opportunities: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lvl="2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Expand to support more medical imaging types and additional diseases.</a:t>
            </a:r>
          </a:p>
          <a:p>
            <a:pPr lvl="2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Enhance real-time processing capabilities.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4. Demo: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lvl="2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Live demonstration of X-ray upload, AI analysis, and report generation.</a:t>
            </a:r>
          </a:p>
          <a:p>
            <a:pPr algn="just">
              <a:lnSpc>
                <a:spcPct val="150000"/>
              </a:lnSpc>
            </a:pPr>
            <a:endParaRPr lang="en-US" sz="2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039601" cy="7709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				CONCLUSION</a:t>
            </a:r>
          </a:p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	</a:t>
            </a:r>
          </a:p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        </a:t>
            </a:r>
            <a:r>
              <a:rPr lang="en-US" sz="2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RaDix's</a:t>
            </a: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development has been a transformative journey, providing key insights 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               Technology-Wise:</a:t>
            </a:r>
          </a:p>
          <a:p>
            <a:pPr lvl="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Mastered front-end tools like React.js and Tailwind CSS for intuitive designs.</a:t>
            </a:r>
          </a:p>
          <a:p>
            <a:pPr lvl="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Leveraged Express.js, Flask and Firebase for robust backend and database.</a:t>
            </a:r>
          </a:p>
          <a:p>
            <a:pPr lvl="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Built a scalable, secure system compliant with HIPAA standards.</a:t>
            </a:r>
          </a:p>
          <a:p>
            <a:pPr lvl="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Designed a user-friendly interface with smooth backend integration.</a:t>
            </a:r>
          </a:p>
          <a:p>
            <a:pPr lvl="2" algn="just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Project Execution-Wise:</a:t>
            </a:r>
          </a:p>
          <a:p>
            <a:pPr lvl="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Learned effective team collaboration, modular development, and prioritization.</a:t>
            </a:r>
          </a:p>
          <a:p>
            <a:pPr lvl="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Gained experience in system testing, debugging, and seamless integration.</a:t>
            </a:r>
          </a:p>
          <a:p>
            <a:pPr lvl="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Executed end-to-end system testing, ensuring functionality,  and user satisfaction</a:t>
            </a:r>
            <a:r>
              <a:rPr lang="en-US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lvl="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Optimized project workflows, balancing speed and quality for efficient execution.</a:t>
            </a:r>
            <a:endParaRPr lang="en-US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  <a:p>
            <a:pPr lvl="1" algn="just">
              <a:lnSpc>
                <a:spcPct val="150000"/>
              </a:lnSpc>
            </a:pPr>
            <a:endParaRPr lang="en-US" b="1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82A8AF8-BF29-3D5A-8CF0-78E765255018}"/>
              </a:ext>
            </a:extLst>
          </p:cNvPr>
          <p:cNvSpPr txBox="1"/>
          <p:nvPr/>
        </p:nvSpPr>
        <p:spPr>
          <a:xfrm flipH="1">
            <a:off x="4427110" y="2627101"/>
            <a:ext cx="3995926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xmlns="" val="17548244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152</Words>
  <Application>Microsoft Office PowerPoint</Application>
  <PresentationFormat>Custom</PresentationFormat>
  <Paragraphs>120</Paragraphs>
  <Slides>14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1_Office Theme</vt:lpstr>
      <vt:lpstr>Slide 1</vt:lpstr>
      <vt:lpstr>Slide 2</vt:lpstr>
      <vt:lpstr>Slide 3</vt:lpstr>
      <vt:lpstr>Slide 4</vt:lpstr>
      <vt:lpstr>Slide 5</vt:lpstr>
      <vt:lpstr>UI SCREENS(MOCK-UPs)</vt:lpstr>
      <vt:lpstr>UI SCREENS(MOCK-UPs)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Asha Sheldon</dc:creator>
  <cp:lastModifiedBy>HOME</cp:lastModifiedBy>
  <cp:revision>54</cp:revision>
  <dcterms:created xsi:type="dcterms:W3CDTF">2024-06-11T09:24:19Z</dcterms:created>
  <dcterms:modified xsi:type="dcterms:W3CDTF">2024-12-24T09:47:57Z</dcterms:modified>
</cp:coreProperties>
</file>